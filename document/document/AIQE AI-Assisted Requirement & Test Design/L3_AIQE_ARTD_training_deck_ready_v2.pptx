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485d86690e4ad2" /><Relationship Type="http://schemas.openxmlformats.org/officeDocument/2006/relationships/extended-properties" Target="/docProps/app.xml" Id="R572051e3322f4387" /><Relationship Type="http://schemas.openxmlformats.org/officeDocument/2006/relationships/officeDocument" Target="/ppt/presentation.xml" Id="R61d640be310643e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bc914ed021840e6"/>
  </p:sldMasterIdLst>
  <p:notesMasterIdLst>
    <p:notesMasterId xmlns:r="http://schemas.openxmlformats.org/officeDocument/2006/relationships" r:id="Rc3770bf075b34080"/>
  </p:notesMasterIdLst>
  <p:sldIdLst>
    <p:sldId xmlns:r="http://schemas.openxmlformats.org/officeDocument/2006/relationships" id="256" r:id="R89be944aa5a64b1a"/>
    <p:sldId xmlns:r="http://schemas.openxmlformats.org/officeDocument/2006/relationships" id="257" r:id="R3018d77df4814cef"/>
    <p:sldId xmlns:r="http://schemas.openxmlformats.org/officeDocument/2006/relationships" id="258" r:id="Rb678a0241b114baa"/>
    <p:sldId xmlns:r="http://schemas.openxmlformats.org/officeDocument/2006/relationships" id="259" r:id="R26b32d413f974b71"/>
    <p:sldId xmlns:r="http://schemas.openxmlformats.org/officeDocument/2006/relationships" id="260" r:id="Rd4678e8ff03742a2"/>
    <p:sldId xmlns:r="http://schemas.openxmlformats.org/officeDocument/2006/relationships" id="261" r:id="R563984effdf24352"/>
    <p:sldId xmlns:r="http://schemas.openxmlformats.org/officeDocument/2006/relationships" id="262" r:id="Ra838010d77764bfb"/>
    <p:sldId xmlns:r="http://schemas.openxmlformats.org/officeDocument/2006/relationships" id="263" r:id="R2651db515f084112"/>
    <p:sldId xmlns:r="http://schemas.openxmlformats.org/officeDocument/2006/relationships" id="264" r:id="R8cdbb52bef6e4380"/>
    <p:sldId xmlns:r="http://schemas.openxmlformats.org/officeDocument/2006/relationships" id="265" r:id="R948f4004225b46b6"/>
    <p:sldId xmlns:r="http://schemas.openxmlformats.org/officeDocument/2006/relationships" id="266" r:id="R31b42afdd8714757"/>
    <p:sldId xmlns:r="http://schemas.openxmlformats.org/officeDocument/2006/relationships" id="267" r:id="R9099dd0dfc6f4d38"/>
    <p:sldId xmlns:r="http://schemas.openxmlformats.org/officeDocument/2006/relationships" id="268" r:id="R655188d206c7404d"/>
    <p:sldId xmlns:r="http://schemas.openxmlformats.org/officeDocument/2006/relationships" id="269" r:id="R231d54abd0a74e36"/>
    <p:sldId xmlns:r="http://schemas.openxmlformats.org/officeDocument/2006/relationships" id="270" r:id="Re6fecdf08e0d4bf5"/>
    <p:sldId xmlns:r="http://schemas.openxmlformats.org/officeDocument/2006/relationships" id="271" r:id="R869f9f7fc60345f7"/>
    <p:sldId xmlns:r="http://schemas.openxmlformats.org/officeDocument/2006/relationships" id="272" r:id="Rb633d0532a614d2d"/>
    <p:sldId xmlns:r="http://schemas.openxmlformats.org/officeDocument/2006/relationships" id="273" r:id="R6f4d78c59a0343c0"/>
    <p:sldId xmlns:r="http://schemas.openxmlformats.org/officeDocument/2006/relationships" id="274" r:id="Rd67a40da20a34527"/>
    <p:sldId xmlns:r="http://schemas.openxmlformats.org/officeDocument/2006/relationships" id="275" r:id="Rc084c4403ab14b92"/>
    <p:sldId xmlns:r="http://schemas.openxmlformats.org/officeDocument/2006/relationships" id="276" r:id="R6c6f3c7580a8460f"/>
    <p:sldId xmlns:r="http://schemas.openxmlformats.org/officeDocument/2006/relationships" id="277" r:id="Re598f2dfc8224a1e"/>
    <p:sldId xmlns:r="http://schemas.openxmlformats.org/officeDocument/2006/relationships" id="278" r:id="R2383eabf1a224069"/>
    <p:sldId xmlns:r="http://schemas.openxmlformats.org/officeDocument/2006/relationships" id="279" r:id="R56872db564cc4029"/>
  </p:sldIdLst>
  <p:sldSz cx="12192000" cy="6858000"/>
  <p:notesSz cx="6858000" cy="9144000"/>
  <p:embeddedFontLst>
    <p:embeddedFont>
      <p:font typeface="Inter"/>
      <p:regular xmlns:r="http://schemas.openxmlformats.org/officeDocument/2006/relationships" r:id="R2a8b2c294a6647d1"/>
      <p:bold xmlns:r="http://schemas.openxmlformats.org/officeDocument/2006/relationships" r:id="Ra89d036b6ee847b3"/>
    </p:embeddedFont>
    <p:embeddedFont>
      <p:font typeface="Inter Medium"/>
      <p:regular xmlns:r="http://schemas.openxmlformats.org/officeDocument/2006/relationships" r:id="R1b43fa1619894b0f"/>
    </p:embeddedFont>
    <p:embeddedFont>
      <p:font typeface="Inter SemiBold"/>
      <p:regular xmlns:r="http://schemas.openxmlformats.org/officeDocument/2006/relationships" r:id="R2f42b88b0a9d4bc8"/>
      <p:bold xmlns:r="http://schemas.openxmlformats.org/officeDocument/2006/relationships" r:id="R07eec190d3604b9f"/>
    </p:embeddedFont>
    <p:embeddedFont>
      <p:font typeface="OpenAI Sans"/>
      <p:regular xmlns:r="http://schemas.openxmlformats.org/officeDocument/2006/relationships" r:id="R704a4f9e4038485b"/>
      <p:bold xmlns:r="http://schemas.openxmlformats.org/officeDocument/2006/relationships" r:id="R9b90de3ecf4f4d85"/>
      <p:italic xmlns:r="http://schemas.openxmlformats.org/officeDocument/2006/relationships" r:id="R0a2415950f8b4523"/>
      <p:boldItalic xmlns:r="http://schemas.openxmlformats.org/officeDocument/2006/relationships" r:id="R8c765a0e4f064ea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0479d9fb00460d" /><Relationship Type="http://schemas.openxmlformats.org/officeDocument/2006/relationships/slideMaster" Target="/ppt/slideMasters/slideMaster1.xml" Id="Rcbc914ed021840e6" /><Relationship Type="http://schemas.openxmlformats.org/officeDocument/2006/relationships/notesMaster" Target="/ppt/notesMasters/notesMaster1.xml" Id="Rc3770bf075b34080" /><Relationship Type="http://schemas.openxmlformats.org/officeDocument/2006/relationships/presProps" Target="/ppt/presProps.xml" Id="R8566e939b213417f" /><Relationship Type="http://schemas.openxmlformats.org/officeDocument/2006/relationships/viewProps" Target="/ppt/viewProps.xml" Id="R5eebb40dcaf440ac" /><Relationship Type="http://schemas.openxmlformats.org/officeDocument/2006/relationships/tableStyles" Target="/ppt/tableStyles.xml" Id="Rbe02b568a2894072" /><Relationship Type="http://schemas.openxmlformats.org/officeDocument/2006/relationships/font" Target="/ppt/fonts/font.dat" Id="R2a8b2c294a6647d1" /><Relationship Type="http://schemas.openxmlformats.org/officeDocument/2006/relationships/font" Target="/ppt/fonts/font2.dat" Id="Ra89d036b6ee847b3" /><Relationship Type="http://schemas.openxmlformats.org/officeDocument/2006/relationships/font" Target="/ppt/fonts/font3.dat" Id="R1b43fa1619894b0f" /><Relationship Type="http://schemas.openxmlformats.org/officeDocument/2006/relationships/font" Target="/ppt/fonts/font4.dat" Id="R2f42b88b0a9d4bc8" /><Relationship Type="http://schemas.openxmlformats.org/officeDocument/2006/relationships/font" Target="/ppt/fonts/font5.dat" Id="R07eec190d3604b9f" /><Relationship Type="http://schemas.openxmlformats.org/officeDocument/2006/relationships/font" Target="/ppt/fonts/font6.dat" Id="R704a4f9e4038485b" /><Relationship Type="http://schemas.openxmlformats.org/officeDocument/2006/relationships/font" Target="/ppt/fonts/font7.dat" Id="R9b90de3ecf4f4d85" /><Relationship Type="http://schemas.openxmlformats.org/officeDocument/2006/relationships/font" Target="/ppt/fonts/font8.dat" Id="R0a2415950f8b4523" /><Relationship Type="http://schemas.openxmlformats.org/officeDocument/2006/relationships/font" Target="/ppt/fonts/font9.dat" Id="R8c765a0e4f064ea9" /><Relationship Type="http://schemas.openxmlformats.org/officeDocument/2006/relationships/slide" Target="/ppt/slides/slide1.xml" Id="R89be944aa5a64b1a" /><Relationship Type="http://schemas.openxmlformats.org/officeDocument/2006/relationships/slide" Target="/ppt/slides/slide2.xml" Id="R3018d77df4814cef" /><Relationship Type="http://schemas.openxmlformats.org/officeDocument/2006/relationships/slide" Target="/ppt/slides/slide3.xml" Id="Rb678a0241b114baa" /><Relationship Type="http://schemas.openxmlformats.org/officeDocument/2006/relationships/slide" Target="/ppt/slides/slide4.xml" Id="R26b32d413f974b71" /><Relationship Type="http://schemas.openxmlformats.org/officeDocument/2006/relationships/slide" Target="/ppt/slides/slide5.xml" Id="Rd4678e8ff03742a2" /><Relationship Type="http://schemas.openxmlformats.org/officeDocument/2006/relationships/slide" Target="/ppt/slides/slide6.xml" Id="R563984effdf24352" /><Relationship Type="http://schemas.openxmlformats.org/officeDocument/2006/relationships/slide" Target="/ppt/slides/slide7.xml" Id="Ra838010d77764bfb" /><Relationship Type="http://schemas.openxmlformats.org/officeDocument/2006/relationships/slide" Target="/ppt/slides/slide8.xml" Id="R2651db515f084112" /><Relationship Type="http://schemas.openxmlformats.org/officeDocument/2006/relationships/slide" Target="/ppt/slides/slide9.xml" Id="R8cdbb52bef6e4380" /><Relationship Type="http://schemas.openxmlformats.org/officeDocument/2006/relationships/slide" Target="/ppt/slides/slide10.xml" Id="R948f4004225b46b6" /><Relationship Type="http://schemas.openxmlformats.org/officeDocument/2006/relationships/slide" Target="/ppt/slides/slide11.xml" Id="R31b42afdd8714757" /><Relationship Type="http://schemas.openxmlformats.org/officeDocument/2006/relationships/slide" Target="/ppt/slides/slide12.xml" Id="R9099dd0dfc6f4d38" /><Relationship Type="http://schemas.openxmlformats.org/officeDocument/2006/relationships/slide" Target="/ppt/slides/slide13.xml" Id="R655188d206c7404d" /><Relationship Type="http://schemas.openxmlformats.org/officeDocument/2006/relationships/slide" Target="/ppt/slides/slide14.xml" Id="R231d54abd0a74e36" /><Relationship Type="http://schemas.openxmlformats.org/officeDocument/2006/relationships/slide" Target="/ppt/slides/slide15.xml" Id="Re6fecdf08e0d4bf5" /><Relationship Type="http://schemas.openxmlformats.org/officeDocument/2006/relationships/slide" Target="/ppt/slides/slide16.xml" Id="R869f9f7fc60345f7" /><Relationship Type="http://schemas.openxmlformats.org/officeDocument/2006/relationships/slide" Target="/ppt/slides/slide17.xml" Id="Rb633d0532a614d2d" /><Relationship Type="http://schemas.openxmlformats.org/officeDocument/2006/relationships/slide" Target="/ppt/slides/slide18.xml" Id="R6f4d78c59a0343c0" /><Relationship Type="http://schemas.openxmlformats.org/officeDocument/2006/relationships/slide" Target="/ppt/slides/slide19.xml" Id="Rd67a40da20a34527" /><Relationship Type="http://schemas.openxmlformats.org/officeDocument/2006/relationships/slide" Target="/ppt/slides/slide20.xml" Id="Rc084c4403ab14b92" /><Relationship Type="http://schemas.openxmlformats.org/officeDocument/2006/relationships/slide" Target="/ppt/slides/slide21.xml" Id="R6c6f3c7580a8460f" /><Relationship Type="http://schemas.openxmlformats.org/officeDocument/2006/relationships/slide" Target="/ppt/slides/slide22.xml" Id="Re598f2dfc8224a1e" /><Relationship Type="http://schemas.openxmlformats.org/officeDocument/2006/relationships/slide" Target="/ppt/slides/slide23.xml" Id="R2383eabf1a224069" /><Relationship Type="http://schemas.openxmlformats.org/officeDocument/2006/relationships/slide" Target="/ppt/slides/slide24.xml" Id="R56872db564cc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48c7ea419047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b03d73111e454e" /><Relationship Type="http://schemas.openxmlformats.org/officeDocument/2006/relationships/notesMaster" Target="/ppt/notesMasters/notesMaster1.xml" Id="R23cb2db8a47d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3ba2ad07c94e1d" /><Relationship Type="http://schemas.openxmlformats.org/officeDocument/2006/relationships/notesMaster" Target="/ppt/notesMasters/notesMaster1.xml" Id="R9ae1fd7692de48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e92bfcc88f441d" /><Relationship Type="http://schemas.openxmlformats.org/officeDocument/2006/relationships/notesMaster" Target="/ppt/notesMasters/notesMaster1.xml" Id="R48366d70c5ee48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1dcefc85074327" /><Relationship Type="http://schemas.openxmlformats.org/officeDocument/2006/relationships/notesMaster" Target="/ppt/notesMasters/notesMaster1.xml" Id="Redc58346b51845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45c596e6b44ab2" /><Relationship Type="http://schemas.openxmlformats.org/officeDocument/2006/relationships/notesMaster" Target="/ppt/notesMasters/notesMaster1.xml" Id="R7899096861944e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d187f8cbb74b63" /><Relationship Type="http://schemas.openxmlformats.org/officeDocument/2006/relationships/notesMaster" Target="/ppt/notesMasters/notesMaster1.xml" Id="R92ffb3ab9ebe49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12330a506440cc" /><Relationship Type="http://schemas.openxmlformats.org/officeDocument/2006/relationships/notesMaster" Target="/ppt/notesMasters/notesMaster1.xml" Id="R406aad30893c40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d69938802a4220" /><Relationship Type="http://schemas.openxmlformats.org/officeDocument/2006/relationships/notesMaster" Target="/ppt/notesMasters/notesMaster1.xml" Id="Rb1530a2cb48c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62065995ba4631" /><Relationship Type="http://schemas.openxmlformats.org/officeDocument/2006/relationships/notesMaster" Target="/ppt/notesMasters/notesMaster1.xml" Id="R910230f9d7924c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24dbd1d20845c2" /><Relationship Type="http://schemas.openxmlformats.org/officeDocument/2006/relationships/notesMaster" Target="/ppt/notesMasters/notesMaster1.xml" Id="Ref4c85b3e5d84b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a428ce9dfc402a" /><Relationship Type="http://schemas.openxmlformats.org/officeDocument/2006/relationships/notesMaster" Target="/ppt/notesMasters/notesMaster1.xml" Id="R47903cc5f9164d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5d0ca8d28e4531" /><Relationship Type="http://schemas.openxmlformats.org/officeDocument/2006/relationships/notesMaster" Target="/ppt/notesMasters/notesMaster1.xml" Id="Rd2d8ec3b601f47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b47a2c1cea46bb" /><Relationship Type="http://schemas.openxmlformats.org/officeDocument/2006/relationships/notesMaster" Target="/ppt/notesMasters/notesMaster1.xml" Id="Rde8f4677d69042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149b1bd24f4749" /><Relationship Type="http://schemas.openxmlformats.org/officeDocument/2006/relationships/notesMaster" Target="/ppt/notesMasters/notesMaster1.xml" Id="R373ecd91115e4a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8c6b16a9e144bb" /><Relationship Type="http://schemas.openxmlformats.org/officeDocument/2006/relationships/notesMaster" Target="/ppt/notesMasters/notesMaster1.xml" Id="Rc643c4da0bd54a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ae8947a8b54026" /><Relationship Type="http://schemas.openxmlformats.org/officeDocument/2006/relationships/notesMaster" Target="/ppt/notesMasters/notesMaster1.xml" Id="R42c7ff48c3484d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4fe02a6c164a91" /><Relationship Type="http://schemas.openxmlformats.org/officeDocument/2006/relationships/notesMaster" Target="/ppt/notesMasters/notesMaster1.xml" Id="Ra6a299943cf444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cfb581a6c44bf6" /><Relationship Type="http://schemas.openxmlformats.org/officeDocument/2006/relationships/notesMaster" Target="/ppt/notesMasters/notesMaster1.xml" Id="Rcdad03f508db4d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8a90db2631486d" /><Relationship Type="http://schemas.openxmlformats.org/officeDocument/2006/relationships/notesMaster" Target="/ppt/notesMasters/notesMaster1.xml" Id="R915069bfb53844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89cd59cab84eaa" /><Relationship Type="http://schemas.openxmlformats.org/officeDocument/2006/relationships/notesMaster" Target="/ppt/notesMasters/notesMaster1.xml" Id="R2338e7ba4aa04c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3060655cf643b8" /><Relationship Type="http://schemas.openxmlformats.org/officeDocument/2006/relationships/notesMaster" Target="/ppt/notesMasters/notesMaster1.xml" Id="R121c340939ac44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93c43f053d4034" /><Relationship Type="http://schemas.openxmlformats.org/officeDocument/2006/relationships/notesMaster" Target="/ppt/notesMasters/notesMaster1.xml" Id="R708ad6f5e9b341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73da5b35a64b94" /><Relationship Type="http://schemas.openxmlformats.org/officeDocument/2006/relationships/notesMaster" Target="/ppt/notesMasters/notesMaster1.xml" Id="R59d733be8c434bc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f96a3148f2444b" /><Relationship Type="http://schemas.openxmlformats.org/officeDocument/2006/relationships/notesMaster" Target="/ppt/notesMasters/notesMaster1.xml" Id="R1450a9442b4f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course as a test-design program. AI supports analysis and drafting, while the team remains accountable for evidence and decisions.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each unit receives eight hours. Every unit produces one reviewed artifact that feeds the capstone.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course around two complementary roles. Learners should never treat model output as test evidence or an approved product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slide to set expectations. Speed matters only when the resulting artifacts remain correct, traceable, and reviewable.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one case study across the course. Continuity makes traceability, change impact, and the final capstone more realistic.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Demonstrate this loop at the start of the course. Reuse it for requirement review, traceability, scenarios, cases, charters, and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learners to challenge any workflow that uploads sensitive data or turns a model suggestion into an approved requirement without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retry example to show a common hallucination pattern. Plausible behavior can still be wrong product behavior.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Clarify that 100 percent linkage does not prove adequate coverage. Each unit adds a different type of evidence.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lectures short. The course allocates most time to hands-on work and review because judgment improves through comparison and feedback.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specificity, observability, controllability, measurability, consistency, feasibility, and traceability as the review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chart uses illustrative workshop data. Deliverable: a requirement quality report with evidence, questions, proposed wording, assumptions, and rejected AI suggestions.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why test-case count is a weak coverage measure. The analysis must include roles, states, combinations, interfaces, failures, and quality attributes.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Deliverable: a reviewed traceability matrix, gap heatmap, orphan and duplicate list, plus a change-impact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can broaden the initial scenario set, but the tester must name the source and test-design technique behind each scenario family.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values are illustrative. The learning objective is transparent reasoning, not false mathematical precision. Learners also document residual risk for deferred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Deliverable: a scenario catalog with source references, techniques, risk scores, selected execution subsets, and documented residual risk.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oracle. A detailed test case fails quality review when another tester cannot observe and verify the expected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Deliverable: a reviewed detailed suite with traceability, data, cleanup, findings, automation recommendations, and an AI change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charter sets direction without prescribing every action. During the session, the tester learns, adapts, captures evidence, and proposes follow-up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matrix to choose focused charters, not to claim completeness. Deliverable: prioritized charters, concise checklists, session notes, evidence, questions, and a debrief.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Each row needs a purpose. Expected-valid records satisfy all constraints. Expected-invalid records should violate only the intended rule when practical.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Deliverable: a versioned dataset package with schema, constraints, boundary and invalid records, masking decisions, validation evidence, seed, setup, and cleanup.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Learners defend their requirement analysis, traceability, risk choices, detailed tests, exploratory assets, and privacy-safe data. A critical correctness or privacy failure prevents a passing result.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08150c35d41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c4f9a69a245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acac4714b4b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db4a7497248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99c60fe8341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eeb050642499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20183e88e46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501e3011245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f59c5126141bb" /><Relationship Type="http://schemas.openxmlformats.org/officeDocument/2006/relationships/image" Target="/ppt/media/image.png" Id="R1fc6bb9037b6433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bbd4a5acf45c4" /><Relationship Type="http://schemas.openxmlformats.org/officeDocument/2006/relationships/image" Target="/ppt/media/image2.png" Id="Rceb6a5088f98464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fc6bb9037b6433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eb6a5088f98464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5e408df27c4c5a" /><Relationship Type="http://schemas.openxmlformats.org/officeDocument/2006/relationships/slideLayout" Target="/ppt/slideLayouts/slideLayout1.xml" Id="Rf194ce17e11042a8" /><Relationship Type="http://schemas.openxmlformats.org/officeDocument/2006/relationships/slideLayout" Target="/ppt/slideLayouts/slideLayout2.xml" Id="Rd74fa4832d8e45e2" /><Relationship Type="http://schemas.openxmlformats.org/officeDocument/2006/relationships/slideLayout" Target="/ppt/slideLayouts/slideLayout3.xml" Id="Reb644bad1418429d" /><Relationship Type="http://schemas.openxmlformats.org/officeDocument/2006/relationships/slideLayout" Target="/ppt/slideLayouts/slideLayout4.xml" Id="Rcfefe780c466493a" /><Relationship Type="http://schemas.openxmlformats.org/officeDocument/2006/relationships/slideLayout" Target="/ppt/slideLayouts/slideLayout5.xml" Id="R7fc1e16437b54286" /><Relationship Type="http://schemas.openxmlformats.org/officeDocument/2006/relationships/slideLayout" Target="/ppt/slideLayouts/slideLayout6.xml" Id="R54a39c70af7a487c" /><Relationship Type="http://schemas.openxmlformats.org/officeDocument/2006/relationships/slideLayout" Target="/ppt/slideLayouts/slideLayout7.xml" Id="Red7eb88d31d44195" /><Relationship Type="http://schemas.openxmlformats.org/officeDocument/2006/relationships/slideLayout" Target="/ppt/slideLayouts/slideLayout8.xml" Id="Ra92dbec429804a37" /><Relationship Type="http://schemas.openxmlformats.org/officeDocument/2006/relationships/slideLayout" Target="/ppt/slideLayouts/slideLayout9.xml" Id="R30d0e87cb3b54c28" /><Relationship Type="http://schemas.openxmlformats.org/officeDocument/2006/relationships/slideLayout" Target="/ppt/slideLayouts/slideLayout10.xml" Id="R346db558d32345c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94ce17e11042a8"/>
    <p:sldLayoutId xmlns:r="http://schemas.openxmlformats.org/officeDocument/2006/relationships" id="2147483650" r:id="Rd74fa4832d8e45e2"/>
    <p:sldLayoutId xmlns:r="http://schemas.openxmlformats.org/officeDocument/2006/relationships" id="2147483651" r:id="Reb644bad1418429d"/>
    <p:sldLayoutId xmlns:r="http://schemas.openxmlformats.org/officeDocument/2006/relationships" id="2147483652" r:id="Rcfefe780c466493a"/>
    <p:sldLayoutId xmlns:r="http://schemas.openxmlformats.org/officeDocument/2006/relationships" id="2147483653" r:id="R7fc1e16437b54286"/>
    <p:sldLayoutId xmlns:r="http://schemas.openxmlformats.org/officeDocument/2006/relationships" id="2147483654" r:id="R54a39c70af7a487c"/>
    <p:sldLayoutId xmlns:r="http://schemas.openxmlformats.org/officeDocument/2006/relationships" id="2147483655" r:id="Red7eb88d31d44195"/>
    <p:sldLayoutId xmlns:r="http://schemas.openxmlformats.org/officeDocument/2006/relationships" id="2147483656" r:id="Ra92dbec429804a37"/>
    <p:sldLayoutId xmlns:r="http://schemas.openxmlformats.org/officeDocument/2006/relationships" id="2147483657" r:id="R30d0e87cb3b54c28"/>
    <p:sldLayoutId xmlns:r="http://schemas.openxmlformats.org/officeDocument/2006/relationships" id="2147483658" r:id="R346db558d32345c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e098a508949b2" /><Relationship Type="http://schemas.openxmlformats.org/officeDocument/2006/relationships/image" Target="/ppt/media/image3.png" Id="R60858f53d8aa46ef" /><Relationship Type="http://schemas.openxmlformats.org/officeDocument/2006/relationships/notesSlide" Target="/ppt/notesSlides/notesSlide1.xml" Id="Ref5acb765b9d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12eb924f74b4c" /><Relationship Type="http://schemas.openxmlformats.org/officeDocument/2006/relationships/notesSlide" Target="/ppt/notesSlides/notesSlide2.xml" Id="Rbc7437fcef624c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122192a924560" /><Relationship Type="http://schemas.openxmlformats.org/officeDocument/2006/relationships/image" Target="/ppt/media/image3.png" Id="Ra9792cc6c9954aa0" /><Relationship Type="http://schemas.openxmlformats.org/officeDocument/2006/relationships/image" Target="/ppt/media/image4.png" Id="R6558b50977524c8c" /><Relationship Type="http://schemas.openxmlformats.org/officeDocument/2006/relationships/image" Target="/ppt/media/image5.png" Id="Rd0714f6dc34340e5" /><Relationship Type="http://schemas.openxmlformats.org/officeDocument/2006/relationships/image" Target="/ppt/media/image6.png" Id="R036e2849f3e64d29" /><Relationship Type="http://schemas.openxmlformats.org/officeDocument/2006/relationships/notesSlide" Target="/ppt/notesSlides/notesSlide3.xml" Id="R5466a0a938de4a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b0a227e574f9b" /><Relationship Type="http://schemas.openxmlformats.org/officeDocument/2006/relationships/notesSlide" Target="/ppt/notesSlides/notesSlide4.xml" Id="Rb1ae2a3603d645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e9263c42548e8" /><Relationship Type="http://schemas.openxmlformats.org/officeDocument/2006/relationships/image" Target="/ppt/media/image4.png" Id="R6c3e9244f9594ad8" /><Relationship Type="http://schemas.openxmlformats.org/officeDocument/2006/relationships/image" Target="/ppt/media/image7.png" Id="Rbe41387b75f14a3d" /><Relationship Type="http://schemas.openxmlformats.org/officeDocument/2006/relationships/notesSlide" Target="/ppt/notesSlides/notesSlide5.xml" Id="R2613551950bb4f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16eb7d730b469a" /><Relationship Type="http://schemas.openxmlformats.org/officeDocument/2006/relationships/image" Target="/ppt/media/image4.png" Id="R885037fdd3a24833" /><Relationship Type="http://schemas.openxmlformats.org/officeDocument/2006/relationships/image" Target="/ppt/media/image8.png" Id="Rffe90bb9eb474a88" /><Relationship Type="http://schemas.openxmlformats.org/officeDocument/2006/relationships/notesSlide" Target="/ppt/notesSlides/notesSlide6.xml" Id="Rddfb8c511ee244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ffdcdca7a4b0a" /><Relationship Type="http://schemas.openxmlformats.org/officeDocument/2006/relationships/notesSlide" Target="/ppt/notesSlides/notesSlide7.xml" Id="R25c33da5f85d42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18ce588ac4f58" /><Relationship Type="http://schemas.openxmlformats.org/officeDocument/2006/relationships/notesSlide" Target="/ppt/notesSlides/notesSlide8.xml" Id="R90dd39ca6edf4d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b5bc93ee548eb" /><Relationship Type="http://schemas.openxmlformats.org/officeDocument/2006/relationships/notesSlide" Target="/ppt/notesSlides/notesSlide9.xml" Id="R5feba7c92e1f48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8e84f2c3f442e" /><Relationship Type="http://schemas.openxmlformats.org/officeDocument/2006/relationships/notesSlide" Target="/ppt/notesSlides/notesSlide10.xml" Id="R79dc887a2dda48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51b486d7a94ba1" /><Relationship Type="http://schemas.openxmlformats.org/officeDocument/2006/relationships/notesSlide" Target="/ppt/notesSlides/notesSlide11.xml" Id="Rf338ebee3cd046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4d316872d4a19" /><Relationship Type="http://schemas.openxmlformats.org/officeDocument/2006/relationships/chart" Target="/ppt/slides/charts/chart1.xml" Id="Rfa9c0e940ecc4311" /><Relationship Type="http://schemas.openxmlformats.org/officeDocument/2006/relationships/notesSlide" Target="/ppt/notesSlides/notesSlide12.xml" Id="R22bc4117faa244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bdadb679a43e8" /><Relationship Type="http://schemas.openxmlformats.org/officeDocument/2006/relationships/notesSlide" Target="/ppt/notesSlides/notesSlide13.xml" Id="R864a2e2d817d41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bf342697264b73" /><Relationship Type="http://schemas.openxmlformats.org/officeDocument/2006/relationships/notesSlide" Target="/ppt/notesSlides/notesSlide14.xml" Id="Rff6c902204d04d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38ab9a00b347b0" /><Relationship Type="http://schemas.openxmlformats.org/officeDocument/2006/relationships/notesSlide" Target="/ppt/notesSlides/notesSlide15.xml" Id="Rcad3064042de40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5a0408b334b86" /><Relationship Type="http://schemas.openxmlformats.org/officeDocument/2006/relationships/chart" Target="/ppt/slides/charts/chart2.xml" Id="R40a67de9ca5348dd" /><Relationship Type="http://schemas.openxmlformats.org/officeDocument/2006/relationships/notesSlide" Target="/ppt/notesSlides/notesSlide16.xml" Id="Rc6d849418f8f44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3863bce93e4977" /><Relationship Type="http://schemas.openxmlformats.org/officeDocument/2006/relationships/image" Target="/ppt/media/image4.png" Id="R366b9d0f92c840e9" /><Relationship Type="http://schemas.openxmlformats.org/officeDocument/2006/relationships/image" Target="/ppt/media/image9.png" Id="R699cd214081a402d" /><Relationship Type="http://schemas.openxmlformats.org/officeDocument/2006/relationships/notesSlide" Target="/ppt/notesSlides/notesSlide17.xml" Id="R48500f21da314d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42b5246d7c54bca" /><Relationship Type="http://schemas.openxmlformats.org/officeDocument/2006/relationships/image" Target="/ppt/media/image4.png" Id="R4c4d419bc1684dfd" /><Relationship Type="http://schemas.openxmlformats.org/officeDocument/2006/relationships/image" Target="/ppt/media/image10.png" Id="Rbd16300c146445d7" /><Relationship Type="http://schemas.openxmlformats.org/officeDocument/2006/relationships/notesSlide" Target="/ppt/notesSlides/notesSlide18.xml" Id="Re2f69f3f202d44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6facdca8e54489b" /><Relationship Type="http://schemas.openxmlformats.org/officeDocument/2006/relationships/notesSlide" Target="/ppt/notesSlides/notesSlide19.xml" Id="R8c094d5d11e249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77de324fb48b7" /><Relationship Type="http://schemas.openxmlformats.org/officeDocument/2006/relationships/notesSlide" Target="/ppt/notesSlides/notesSlide20.xml" Id="R1ca4da0c845e45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459c7912a4078" /><Relationship Type="http://schemas.openxmlformats.org/officeDocument/2006/relationships/notesSlide" Target="/ppt/notesSlides/notesSlide21.xml" Id="R38933492404240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427a3822c4eea" /><Relationship Type="http://schemas.openxmlformats.org/officeDocument/2006/relationships/notesSlide" Target="/ppt/notesSlides/notesSlide22.xml" Id="R3e0173bb247245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ec7376273124ed2" /><Relationship Type="http://schemas.openxmlformats.org/officeDocument/2006/relationships/image" Target="/ppt/media/image11.png" Id="Rc242e4a05d3146d7" /><Relationship Type="http://schemas.openxmlformats.org/officeDocument/2006/relationships/notesSlide" Target="/ppt/notesSlides/notesSlide23.xml" Id="Rd2abba1be77d4e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5cd29aed646b4" /><Relationship Type="http://schemas.openxmlformats.org/officeDocument/2006/relationships/image" Target="/ppt/media/image3.png" Id="R5bb82f528f4d42d9" /><Relationship Type="http://schemas.openxmlformats.org/officeDocument/2006/relationships/notesSlide" Target="/ppt/notesSlides/notesSlide24.xml" Id="Rda20c2c0994d4df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Inter"/>
                <a:ea typeface="Inter"/>
                <a:cs typeface="Inter"/>
              </a:rPr>
              <a:t>Illustrative review backlog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Inter"/>
              <a:ea typeface="Inter"/>
              <a:cs typeface="Inte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Open findings</c:v>
          </c:tx>
          <c:spPr>
            <a:solidFill xmlns:a="http://schemas.openxmlformats.org/drawingml/2006/main">
              <a:srgbClr val="5EC4FF"/>
            </a:solidFill>
          </c:spPr>
          <c:cat>
            <c:strRef>
              <c:f>'Chart Data'!$A$2:$A$5</c:f>
              <c:strCache>
                <c:ptCount val="4"/>
                <c:pt idx="0">
                  <c:v>Ambiguity</c:v>
                </c:pt>
                <c:pt idx="1">
                  <c:v>Missing rule</c:v>
                </c:pt>
                <c:pt idx="2">
                  <c:v>Conflict</c:v>
                </c:pt>
                <c:pt idx="3">
                  <c:v>Weak measure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v>Resolved</c:v>
          </c:tx>
          <c:spPr>
            <a:solidFill xmlns:a="http://schemas.openxmlformats.org/drawingml/2006/main">
              <a:srgbClr val="3C7DA3"/>
            </a:solidFill>
          </c:spPr>
          <c:cat>
            <c:strRef>
              <c:f>'Chart Data'!$C$2:$C$5</c:f>
              <c:strCache>
                <c:ptCount val="4"/>
                <c:pt idx="0">
                  <c:v>Ambiguity</c:v>
                </c:pt>
                <c:pt idx="1">
                  <c:v>Missing rule</c:v>
                </c:pt>
                <c:pt idx="2">
                  <c:v>Conflict</c:v>
                </c:pt>
                <c:pt idx="3">
                  <c:v>Weak measure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Inter"/>
                <a:ea typeface="Inter"/>
                <a:cs typeface="Inter"/>
              </a:rPr>
              <a:t>Illustrative scenario scores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Inter"/>
              <a:ea typeface="Inter"/>
              <a:cs typeface="Inter"/>
            </a:defRPr>
          </a:pPr>
        </a:p>
      </c:txPr>
    </c:title>
    <c:plotArea>
      <c:lineChart>
        <c:grouping val="standard"/>
        <c:ser>
          <c:idx val="0"/>
          <c:order val="0"/>
          <c:tx>
            <c:v>Likelihood</c:v>
          </c:tx>
          <c:spPr>
            <a:ln xmlns:a="http://schemas.openxmlformats.org/drawingml/2006/main" w="28575">
              <a:solidFill>
                <a:srgbClr val="5EC4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EC4FF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v>Impact</c:v>
          </c:tx>
          <c:spPr>
            <a:ln xmlns:a="http://schemas.openxmlformats.org/drawingml/2006/main" w="28575">
              <a:solidFill>
                <a:srgbClr val="3C7DA3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3C7DA3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AI-Assisted</a:t>
            </a:r>
          </a:p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Requirements</a:t>
            </a:r>
          </a:p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&amp; Test Design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Advanced QA Engineering</a:t>
            </a:r>
          </a:p>
          <a:p xmlns:a="http://schemas.openxmlformats.org/drawingml/2006/main">
            <a:r>
              <a:rPr sz="1800"/>
              <a:t>48 hours | 6 units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58f53d8aa46ef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agenda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Requirement analysis and ambiguity detection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Coverage gaps and requirement traceability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Scenario generation and risk prioritization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Detailed test cases and quality review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Exploratory charters and checklists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Test data, masking, and boundary datasets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92cc6c9954aa0"/>
          <a:srcRect xmlns:a="http://schemas.openxmlformats.org/drawingml/2006/main" l="3152" t="0" r="3152" b="0"/>
          <a:stretch xmlns:a="http://schemas.openxmlformats.org/drawingml/2006/main"/>
        </p:blipFill>
        <p:spPr>
          <a:xfrm xmlns:a="http://schemas.openxmlformats.org/drawingml/2006/main">
            <a:off x="7371258" y="0"/>
            <a:ext cx="4819284" cy="6858000"/>
          </a:xfrm>
          <a:prstGeom xmlns:a="http://schemas.openxmlformats.org/drawingml/2006/main" prst="rect">
            <a:avLst/>
          </a:prstGeom>
        </p:spPr>
      </p:pic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90E0952-CC7C-65FF-3A11-F59CB4DA85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101769"/>
            <a:ext cx="2969986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AI assistant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Extracts, compares, and drafts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9A2AEE7-A921-7DF3-9C82-C98AEFAE5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8674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One continuous workflow</a:t>
            </a:r>
            <a:endParaRPr sz="4800"/>
          </a:p>
          <a:p xmlns:a="http://schemas.openxmlformats.org/drawingml/2006/main">
            <a:r>
              <a:rPr sz="4800"/>
              <a:t>across six units</a:t>
            </a:r>
            <a:endParaRPr sz="4800"/>
          </a:p>
        </p:txBody>
      </p:sp>
      <p:pic>
        <p:nvPicPr>
          <p:cNvPr id="54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8b50977524c8c"/>
          <a:srcRect xmlns:a="http://schemas.openxmlformats.org/drawingml/2006/main" l="0" t="74249" r="80475" b="15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968" y="3891501"/>
            <a:ext cx="891133" cy="903819"/>
          </a:xfrm>
        </p:spPr>
      </p:pic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FB134F60-C9DC-84B1-04A3-F4DA7806169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sp>
        <p:nvSpPr>
          <p:cNvPr id="11" name="Slide Number Placeholder 10">
            <a:extLst xmlns:a="http://schemas.openxmlformats.org/drawingml/2006/main">
              <a:ext uri="{FF2B5EF4-FFF2-40B4-BE49-F238E27FC236}">
                <a16:creationId xmlns:a16="http://schemas.microsoft.com/office/drawing/2014/main" id="{CF4DEF80-F13A-D843-314A-5472C1FBE0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3</a:t>
            </a:fld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B34DAA1-B334-0FFA-8EF7-9280350C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343" y="5101769"/>
            <a:ext cx="2969986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1800">
                <a:latin typeface="Inter"/>
                <a:ea typeface="Inter"/>
                <a:cs typeface="Inter"/>
              </a:rPr>
              <a:t>Human reviewer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1800">
                <a:latin typeface="Inter"/>
                <a:ea typeface="Inter"/>
                <a:cs typeface="Inter"/>
              </a:rPr>
              <a:t>Validates, decides, and approves</a:t>
            </a:r>
            <a:endParaRPr sz="1800">
              <a:latin typeface="Inter"/>
              <a:ea typeface="Inter"/>
              <a:cs typeface="Inter"/>
            </a:endParaRPr>
          </a:p>
        </p:txBody>
      </p:sp>
      <p:pic>
        <p:nvPicPr>
          <p:cNvPr id="5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8b50977524c8c"/>
          <a:srcRect xmlns:a="http://schemas.openxmlformats.org/drawingml/2006/main" l="0" t="74249" r="80475" b="15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9611" y="3891501"/>
            <a:ext cx="891133" cy="903819"/>
          </a:xfrm>
        </p:spPr>
      </p:pic>
      <p:pic>
        <p:nvPicPr>
          <p:cNvPr id="5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14f6dc34340e5"/>
          <a:srcRect xmlns:a="http://schemas.openxmlformats.org/drawingml/2006/main" l="0" t="12101" r="0" b="12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3895725"/>
            <a:ext cx="895350" cy="904875"/>
          </a:xfrm>
          <a:prstGeom xmlns:a="http://schemas.openxmlformats.org/drawingml/2006/main" prst="rect">
            <a:avLst/>
          </a:prstGeom>
        </p:spPr>
      </p:pic>
      <p:pic>
        <p:nvPicPr>
          <p:cNvPr id="5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e2849f3e64d29"/>
          <a:srcRect xmlns:a="http://schemas.openxmlformats.org/drawingml/2006/main" l="0" t="12101" r="0" b="12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3825" y="3895725"/>
            <a:ext cx="895350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95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The course builds a source-backed test design package, from unclear requirements to privacy-safe test data.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AI expands review breadth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It proposes questions, links, scenarios, and drafts.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Humans protect correctness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They verify sources, risks, oracles, and data handling.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System scope</a:t>
            </a:r>
            <a:endParaRPr sz="18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Web and mobile clients connect to payment, inventory, discount, notification, and audit services.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/>
            </a:r>
            <a:endParaRPr sz="18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Learning challenge</a:t>
            </a:r>
            <a:endParaRPr sz="18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The source pack contains incomplete stories, conflicting rules, a change request, non-functional constraints, and unsafe data examples.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Running case: omnichannel order and refund platform</a:t>
            </a:r>
            <a:endParaRPr/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e9244f9594ad8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1387b75f14a3d"/>
          <a:srcRect xmlns:a="http://schemas.openxmlformats.org/drawingml/2006/main" l="0" t="12113" r="0" b="121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1  Scope the task and exclusions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2  Ground the model with approved sources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3  Generate a small structured draft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4  Challenge assumptions and missing views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5  Verify rules, calculations, and evidence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6  Record the human decision and provenance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AI workflow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pic>
        <p:nvPicPr>
          <p:cNvPr id="54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037fdd3a24833"/>
          <a:srcRect xmlns:a="http://schemas.openxmlformats.org/drawingml/2006/main" l="0" t="44704" r="0" b="17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396409"/>
            <a:ext cx="750348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90bb9eb474a88"/>
          <a:srcRect xmlns:a="http://schemas.openxmlformats.org/drawingml/2006/main" l="0" t="22018" r="0" b="22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400050"/>
            <a:ext cx="7505700" cy="56007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Inter"/>
                <a:ea typeface="Inter"/>
                <a:cs typeface="Inter"/>
              </a:rPr>
              <a:t>Every generated artifact remains a draft until a named reviewer approves it.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Responsible AI working agreement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Use approved source material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Protect production data, credentials, personal data, and proprietary material.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Separate facts, assumptions, questions, and suggestions.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Record the source set, prompt version, reviewer, and review result.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Cite requirement or rule IDs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Write Not specified for gaps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Validate with deterministic checks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Keep a human approval trail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Grounded output and unsafe output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Grounded output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Requirement R-14 does not define retry limits. Ask the service owner.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 citation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Explicit uncertainty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disposition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Unsafe output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service retries three times because that pattern is common.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Invented behavior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False confidence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evidence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Review rule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model may analyze supplied facts and flag gaps. Missing behavior becomes a question, not an invented answer.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Reviewer question: Can another person trace every material statement to evidence?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Course map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Six linked deliverables build one capstone package.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Stage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Focus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Hours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Primary output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Core validation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Requirements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Quality report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Source fidelity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Coverage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Traceability pack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Behavior-level links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Scenarios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Risk portfolio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Design rationale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Test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Reviewed suite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Observable oracles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Exploration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Charter pack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Evidence and learning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Unit 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Test data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package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privacy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Capstone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Integration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Included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End-to-end package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Human defense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Learning pattern in every unit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Demonstrate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Compare weak and controlled AI workflows.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Study the quality model and test-design technique.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Defend decisions and record rejected suggestions.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Apply the method to the running case.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Each eight-hour unit mixes concise theory with demonstration, guided practice, peer review, and an assessed deliverable.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Specific and observable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Actors, triggers, outcomes, thresholds, and sources of truth are explicit.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 enough to test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Alternate flows, error behavior, permissions, and data lifecycle are visible.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1: Requirement testability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Consistent across sources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Stories, rules, contracts, and quality attributes do not contradict one another.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Measured without invention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Missing values become clarification questions instead of model assumptions.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Unit 1 workshop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Challenge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Classify ambiguity, missing rules, conflicts, and weak measures.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Decompose actors, conditions, rules, outcomes, and exceptions.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Refine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Rewrite acceptance criteria and preserve the original business intent.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graphicFrame>
        <p:nvGraphicFramePr>
          <p:cNvPr id="544" name="Chart"/>
          <p:cNvGraphicFramePr/>
          <p:nvPr/>
        </p:nvGraphicFramePr>
        <p:xfrm>
          <a:off xmlns:a="http://schemas.openxmlformats.org/drawingml/2006/main" x="409575" y="1057275"/>
          <a:ext xmlns:a="http://schemas.openxmlformats.org/drawingml/2006/main" cx="51244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9c0e940ecc4311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Unit 2: Traceability and coverage gaps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Coverage status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Full, partial, indirect, none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Coverage dimensions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Roles, states, rules, interfaces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Asset quality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Duplicate, orphan, obsolete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Requirement change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Direct and indirect impact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Goal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Build defensible links between requirements, risks, scenarios, tests, data, and execution evidence.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Key principle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Keyword similarity proposes a candidate link. Behavioral evidence confirms coverage.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Requirement and risk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State the business behavior, quality expectation, and consequence of failure.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Traceability chain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Scenario and test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Show which condition, variation, action, and oracle provide direct coverage.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Execution evidence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Connect the result, defect, environment, data version, and release decision.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INPUT 1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15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3: Scenario generation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INPUT 2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INPUT 3</a:t>
            </a:r>
          </a:p>
        </p:txBody>
      </p:sp>
      <p:cxnSp>
        <p:nvCxnSpPr>
          <p:cNvPr id="31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Requirements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Derive critical flows, validation, business rules, roles, and exception behavior.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Risks and history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 impact, usage, defects, incidents, change complexity, and abuse cases.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Models and techniques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Apply boundaries, decision tables, states, pairwise coverage, and invariants.</a:t>
            </a: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44300" y="6286500"/>
            <a:ext cx="266700" cy="171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prioritization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25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High-risk example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Likelihood 5 × impact 5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Lower-risk example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Likelihood 2 × impact 2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Worked example: priority score combines likelihood and business impact. Teams add exposure, detectability, or change factors only when the evidence supports them.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390525" y="1257300"/>
          <a:ext xmlns:a="http://schemas.openxmlformats.org/drawingml/2006/main" cx="5534025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a67de9ca5348dd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B4069B76-F483-69FE-5E50-3A7313DC6D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Behavior breadth</a:t>
            </a:r>
            <a:endParaRPr sz="1600"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Positive, negative, alternate, state, timing, and recovery coverage.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42C7FCC-86E7-F5EC-CF92-EC13CA3E8A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17</a:t>
            </a:fld>
            <a:endParaRPr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408DEBE-7CF4-03DE-7F3D-886627F115F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Quality risks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Security, privacy, performance, reliability, usability, and accessibility.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57F93-C3C2-23D6-9524-2C2ACDCF6D75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Execution plan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Smoke, critical path, targeted regression, deep testing, and exploration.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4BDA96D-2BD4-0A74-3D12-0FFADFFA3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Unit 3 output: a balanced scenario portfolio</a:t>
            </a:r>
            <a:endParaRPr/>
          </a:p>
        </p:txBody>
      </p:sp>
      <p:pic>
        <p:nvPicPr>
          <p:cNvPr id="54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b9d0f92c840e9"/>
          <a:srcRect xmlns:a="http://schemas.openxmlformats.org/drawingml/2006/main" l="5428" t="29168" r="33478" b="50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00" y="1384299"/>
            <a:ext cx="3578727" cy="2324099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54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b9d0f92c840e9"/>
          <a:srcRect xmlns:a="http://schemas.openxmlformats.org/drawingml/2006/main" l="5428" t="29168" r="33478" b="50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964" y="1384299"/>
            <a:ext cx="3578727" cy="2324099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54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b9d0f92c840e9"/>
          <a:srcRect xmlns:a="http://schemas.openxmlformats.org/drawingml/2006/main" l="5428" t="29168" r="33478" b="50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8290" y="1384299"/>
            <a:ext cx="3578727" cy="2324099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14" name="Footer Placeholder 13">
            <a:extLst xmlns:a="http://schemas.openxmlformats.org/drawingml/2006/main">
              <a:ext uri="{FF2B5EF4-FFF2-40B4-BE49-F238E27FC236}">
                <a16:creationId xmlns:a16="http://schemas.microsoft.com/office/drawing/2014/main" id="{6A97BA39-A4A0-86E1-DC4D-EC4DAE78E8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pic>
        <p:nvPicPr>
          <p:cNvPr id="5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cd214081a402d"/>
          <a:srcRect xmlns:a="http://schemas.openxmlformats.org/drawingml/2006/main" l="0" t="31920" r="0" b="31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381125"/>
            <a:ext cx="11420475" cy="2324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620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ECB8632-1E9B-93EF-6B4C-24920B9FEC0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947920"/>
            <a:ext cx="2595934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Preconditions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Known state, environment, role, and dependencies.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99F78DC-6ABF-5CDA-EEA9-835E17C9EA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18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1749045-A895-0C17-040D-B1679D2824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6014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test case anatomy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DDC2A56-FD2D-9F2F-B3C6-ACBF0A9C757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0244" y="4947920"/>
            <a:ext cx="2600656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Test data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Purposeful values, constraints, IDs, and cleanup rules.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F30CA603-E888-601F-8A30-9977C0A4441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947920"/>
            <a:ext cx="2595934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Actions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Precise behavior without brittle implementation detail.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484D5916-C818-1EA5-EC33-3EEB06C8811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0957" y="4947920"/>
            <a:ext cx="2600656" cy="10464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Expected results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Observable, measurable, and source-backed oracles.</a:t>
            </a:r>
          </a:p>
        </p:txBody>
      </p:sp>
      <p:pic>
        <p:nvPicPr>
          <p:cNvPr id="3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d419bc1684dfd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00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37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d419bc1684dfd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1213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38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d419bc1684dfd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5862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pic>
        <p:nvPicPr>
          <p:cNvPr id="39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d419bc1684dfd"/>
          <a:srcRect xmlns:a="http://schemas.openxmlformats.org/drawingml/2006/main" l="5428" t="29169" r="50494" b="42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3375" y="1384300"/>
            <a:ext cx="2581975" cy="3314700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24" name="Footer Placeholder 23">
            <a:extLst xmlns:a="http://schemas.openxmlformats.org/drawingml/2006/main">
              <a:ext uri="{FF2B5EF4-FFF2-40B4-BE49-F238E27FC236}">
                <a16:creationId xmlns:a16="http://schemas.microsoft.com/office/drawing/2014/main" id="{C162692F-4232-A31F-B9AD-AFC59611E7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6300c146445d7"/>
          <a:srcRect xmlns:a="http://schemas.openxmlformats.org/drawingml/2006/main" l="0" t="13711" r="0" b="13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381125"/>
            <a:ext cx="11420475" cy="3314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0207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19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4: Test case quality review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Correctness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Inter"/>
                <a:ea typeface="Inter"/>
                <a:cs typeface="Inter"/>
              </a:rPr>
              <a:t>Requirement alignment, valid business rules, feasible setup, and no invented outcomes.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Maintainability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Independent execution, controlled data, clear cleanup, and limited duplication.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Diagnostic value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Strong checkpoints, observable oracles, and enough evidence to explain a failure.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Inter"/>
                <a:ea typeface="Inter"/>
                <a:cs typeface="Inter"/>
              </a:rPr>
              <a:t>AI drafts one case first. Human review confirms source alignment before the model expands a full family of cases.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Exploratory session timeline</a:t>
            </a:r>
            <a:endParaRPr/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0–10 min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10–25 min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25–45 min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45–55 min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55–60 min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76875"/>
            <a:ext cx="1990725" cy="51435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DEBRIEF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52975"/>
            <a:ext cx="4086225" cy="51435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CAPTURE EVIDENCE</a:t>
            </a:r>
            <a:endParaRPr sz="15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05275"/>
            <a:ext cx="4086225" cy="51435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FOLLOW-UP IDEAS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0425"/>
            <a:ext cx="6400800" cy="51435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DEEP EXPLORATION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95575"/>
            <a:ext cx="4095750" cy="51435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LEARN AND MAP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971675"/>
            <a:ext cx="2095500" cy="51435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Helvetica Neue"/>
                <a:ea typeface="Helvetica Neue"/>
                <a:cs typeface="Helvetica Neue"/>
              </a:rPr>
              <a:t>SETUP</a:t>
            </a:r>
            <a:endParaRPr sz="15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BC8F87E2-B04B-1BFE-82D7-8CE6386F0C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EA9E153-83B8-4A19-B51B-168B1CABC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04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Unit 5: Exploratory charter portfolio</a:t>
            </a:r>
            <a:endParaRPr/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3" cy="540643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29229"/>
                <a:gridCol w="1629229"/>
                <a:gridCol w="1629229"/>
                <a:gridCol w="1629229"/>
                <a:gridCol w="1629229"/>
                <a:gridCol w="1629229"/>
                <a:gridCol w="1629229"/>
              </a:tblGrid>
              <a:tr h="36998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Target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Persona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Data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Interface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Failure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Security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Recovery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Checkout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Guest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Payment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Timeout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Abuse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Retry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Refund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Inventory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Stale state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Rollback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Discount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Member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Pricing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Conflict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Tampering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Recalculate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Notice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Encoding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Email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Outage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Privacy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Resend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00729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Retention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sink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Backlog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Access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B9156D34-582C-9A19-B0E2-990B7DF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6" y="1696894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3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DBFBE8C6-452C-D68C-DEA9-67099460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018" y="2719780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1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23D8C389-0A0C-B787-2C01-CBB896B5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260" y="4742544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C2B3626-5568-581A-0AB2-0F3D729D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2836696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3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2FD2E7C-03C8-3690-5B9A-5EA56E8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476" y="4742543"/>
            <a:ext cx="1354870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4480EB8-BAC8-ED03-F938-3F4A3F09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2531300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8FBBA127-C900-E8A7-9C01-4B7FD6F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4861439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7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7782EB6A-8CED-E57F-7734-9AF9669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735" y="4556043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8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E0D0A45-E1BD-8835-3937-F49E6C6E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716" y="4861439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1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00D2388-8141-890B-9B6B-7A2FC5F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716" y="4556043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2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754EB925-A23E-4F7E-3C28-BEFF83B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924" y="5725954"/>
            <a:ext cx="1412838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21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B4A9A932-6D5A-EEB8-E63A-238ED252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46" y="3840095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2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37552AF0-3EEF-0976-F09F-314A317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46" y="3534699"/>
            <a:ext cx="1354870" cy="245227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CHARTER</a:t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EA31A1FE-95E6-F4AE-8E61-38FDC469D8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0408480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478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Test data design matrix</a:t>
            </a:r>
            <a:endParaRPr/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Boundary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Invalid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Stateful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Volume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Typical order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 amount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Malformed ID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Created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Small batch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Known customer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 quantity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Duplicate key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Peak batch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refund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Expiry time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Broken reference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Refunded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Soak dataset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locale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 string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Reversed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load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1633394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VERIFY</a:t>
            </a:r>
          </a:p>
        </p:txBody>
      </p:sp>
      <p:sp>
        <p:nvSpPr>
          <p:cNvPr id="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2039794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VERIFY</a:t>
            </a:r>
          </a:p>
        </p:txBody>
      </p:sp>
      <p:sp>
        <p:nvSpPr>
          <p:cNvPr id="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46" y="1788470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atin typeface="Helvetica Neue"/>
                <a:ea typeface="Helvetica Neue"/>
                <a:cs typeface="Helvetica Neue"/>
              </a:rPr>
              <a:t>VERIFY</a:t>
            </a:r>
            <a:endParaRPr sz="11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4257498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VERIFY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6" y="4257498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VERIFY</a:t>
            </a:r>
          </a:p>
        </p:txBody>
      </p:sp>
      <p:sp>
        <p:nvSpPr>
          <p:cNvPr id="14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46" y="5458770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VERIFY</a:t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2BD0053E-46E1-433A-AACF-280AAA6A431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Classify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Identify direct identifiers, quasi-identifiers, secrets, and confidential business data.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0C460F62-E9D0-4F41-A2A9-F5E7B73F65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23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F12BE689-ECBD-43C1-851E-DE27626E056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Transform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Choose masking, substitution, tokenization, or fully synthetic generation.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9CAD8ABA-AD1C-4CC9-AB35-EDE006CF595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Validate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Check constraints, referential integrity, leakage, provenance, setup, and cleanup.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975391AD-5D26-4313-9576-5B06041B44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Unit 6: Privacy-safe test data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088692AB-BE5F-41E7-9879-FAF67EA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C9608917-C249-4ED0-8166-4ACEBD0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9FB340AA-5C35-40D1-BDDC-8083B4E8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30487E6C-E679-F541-4B4C-695C244D809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AIQE ARTD</a:t>
            </a:r>
            <a:endParaRPr sz="1100"/>
          </a:p>
        </p:txBody>
      </p:sp>
      <p:pic>
        <p:nvPicPr>
          <p:cNvPr id="5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2e4a05d3146d7"/>
          <a:stretch xmlns:a="http://schemas.openxmlformats.org/drawingml/2006/main"/>
        </p:blipFill>
        <p:spPr>
          <a:xfrm xmlns:a="http://schemas.openxmlformats.org/drawingml/2006/main">
            <a:off x="4192012" y="1066800"/>
            <a:ext cx="3807976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3569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Capstone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One coherent, evidence-backed test design package</a:t>
            </a:r>
          </a:p>
          <a:p xmlns:a="http://schemas.openxmlformats.org/drawingml/2006/main">
            <a:r>
              <a:rPr sz="1800"/>
              <a:t>70% recommended pass mark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82f528f4d42d9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2026-09-08T02:10:19.6830000Z</dcterms:created>
  <dcterms:modified xsi:type="dcterms:W3CDTF">2026-09-08T02:10:19.6830000Z</dcterms:modified>
</coreProperties>
</file>